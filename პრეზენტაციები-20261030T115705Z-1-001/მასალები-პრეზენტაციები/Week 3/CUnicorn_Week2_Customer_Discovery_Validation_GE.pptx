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85" r:id="rId10"/>
    <p:sldId id="265" r:id="rId11"/>
    <p:sldId id="286" r:id="rId12"/>
    <p:sldId id="266" r:id="rId13"/>
    <p:sldId id="267" r:id="rId14"/>
    <p:sldId id="268" r:id="rId15"/>
    <p:sldId id="269" r:id="rId16"/>
    <p:sldId id="272" r:id="rId17"/>
    <p:sldId id="275" r:id="rId18"/>
    <p:sldId id="276" r:id="rId19"/>
    <p:sldId id="270" r:id="rId20"/>
    <p:sldId id="274" r:id="rId21"/>
    <p:sldId id="277" r:id="rId22"/>
    <p:sldId id="271" r:id="rId23"/>
    <p:sldId id="273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708"/>
  </p:normalViewPr>
  <p:slideViewPr>
    <p:cSldViewPr snapToGrid="0" snapToObjects="1">
      <p:cViewPr varScale="1">
        <p:scale>
          <a:sx n="204" d="100"/>
          <a:sy n="204" d="100"/>
        </p:scale>
        <p:origin x="232" y="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EE669"/>
                </a:solidFill>
                <a:latin typeface="Aptos"/>
              </a:rPr>
              <a:t>CUNICORN PRE-ACCELERATION  • 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33272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CUSTOMER DISCOVERY
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მომხმარებლის აღმოჩენა და იდეის ვალიდაცია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715000"/>
            <a:ext cx="2880360" cy="73152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961888"/>
            <a:ext cx="9601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AD8E4"/>
                </a:solidFill>
                <a:latin typeface="Aptos"/>
              </a:rPr>
              <a:t>რეალური მომხმარებელი  →  მტკიცებულება  →  უკეთესი გადაწყვეტილება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640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DC1D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1866" y="907771"/>
            <a:ext cx="1078992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a-GE" sz="2800" b="1" dirty="0">
                <a:solidFill>
                  <a:srgbClr val="13233A"/>
                </a:solidFill>
                <a:latin typeface="Aptos"/>
              </a:rPr>
              <a:t>როგორ გავიგოთ, ღირს თუ არა მის აშენებაზე დროის დახარჯვა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74720" cy="2331720"/>
          </a:xfrm>
          <a:prstGeom prst="roundRect">
            <a:avLst/>
          </a:prstGeom>
          <a:solidFill>
            <a:srgbClr val="E4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82296" cy="233172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0370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15768"/>
            <a:ext cx="3090672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ვინ არის მომხმარებელი?
რა პრობლემა აქვს?
როგორ უმკლავდება დღეს?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74720" cy="233172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82296" cy="233172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20370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15768"/>
            <a:ext cx="3090672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რა ვიცით ფაქტობრივად?
რა არის მხოლოდ ვარაუდი?
რა უნდა გადავამოწმოთ?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474720" cy="2331720"/>
          </a:xfrm>
          <a:prstGeom prst="roundRect">
            <a:avLst/>
          </a:prstGeom>
          <a:solidFill>
            <a:srgbClr val="F1F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057400"/>
            <a:ext cx="82296" cy="2331720"/>
          </a:xfrm>
          <a:prstGeom prst="rect">
            <a:avLst/>
          </a:prstGeom>
          <a:solidFill>
            <a:srgbClr val="87A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20370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15768"/>
            <a:ext cx="3090672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რა ექსპერიმენტი ჩავატაროთ?
რა შედეგი ჩაითვლება მტკიცებულებად?
რა გადაწყვეტილებას მივიღებთ?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80"/>
            <a:ext cx="1024128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 noProof="1">
                <a:solidFill>
                  <a:srgbClr val="13233A"/>
                </a:solidFill>
                <a:latin typeface="Aptos"/>
              </a:rPr>
              <a:t>მთავარი პრინციპი: ჯერ </a:t>
            </a:r>
            <a:r>
              <a:rPr lang="ka-GE" sz="2500" b="1" i="0" noProof="1">
                <a:solidFill>
                  <a:srgbClr val="13233A"/>
                </a:solidFill>
                <a:latin typeface="Aptos"/>
              </a:rPr>
              <a:t>შე</a:t>
            </a:r>
            <a:r>
              <a:rPr sz="2500" b="1" i="0" noProof="1">
                <a:solidFill>
                  <a:srgbClr val="13233A"/>
                </a:solidFill>
                <a:latin typeface="Aptos"/>
              </a:rPr>
              <a:t>ისწავლე</a:t>
            </a:r>
            <a:r>
              <a:rPr lang="ka-GE" sz="2500" b="1" noProof="1">
                <a:solidFill>
                  <a:srgbClr val="13233A"/>
                </a:solidFill>
                <a:latin typeface="Aptos"/>
              </a:rPr>
              <a:t>-</a:t>
            </a:r>
            <a:r>
              <a:rPr sz="2500" b="1" i="0" noProof="1">
                <a:solidFill>
                  <a:srgbClr val="13233A"/>
                </a:solidFill>
                <a:latin typeface="Aptos"/>
              </a:rPr>
              <a:t> შემდეგ ააშენე.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 noProof="1">
                <a:solidFill>
                  <a:srgbClr val="13233A"/>
                </a:solidFill>
                <a:latin typeface="Aptos"/>
              </a:rPr>
              <a:t>სესიის ბოლოს შეძლებთ…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 noProof="1">
                <a:solidFill>
                  <a:srgbClr val="677582"/>
                </a:solidFill>
                <a:latin typeface="Aptos"/>
              </a:rPr>
              <a:t>შედეგი უნდა იყოს კონკრეტული და გამოსაყენებელი თქვენს სტარტაპზე.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94560"/>
            <a:ext cx="10515600" cy="2279598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1C2733"/>
                </a:solidFill>
                <a:latin typeface="Aptos"/>
              </a:defRPr>
            </a:pPr>
            <a:r>
              <a:rPr noProof="1"/>
              <a:t>მომხმარებლის სეგმენტის მკაფიოდ განსაზღვრას </a:t>
            </a:r>
            <a:r>
              <a:rPr lang="ka-GE" noProof="1"/>
              <a:t>-</a:t>
            </a:r>
            <a:r>
              <a:rPr noProof="1"/>
              <a:t> არა „ყველასთვის“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1C2733"/>
                </a:solidFill>
                <a:latin typeface="Aptos"/>
              </a:defRPr>
            </a:pPr>
            <a:r>
              <a:rPr noProof="1"/>
              <a:t>ინტერვიუს კითხვების შედგენას, რომლებიც რეალურ ქცევას იკვლევს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1C2733"/>
                </a:solidFill>
                <a:latin typeface="Aptos"/>
              </a:defRPr>
            </a:pPr>
            <a:r>
              <a:rPr noProof="1"/>
              <a:t>ვარაუდის, აზრისა და მტკიცებულების ერთმანეთისგან გარჩევას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1C2733"/>
                </a:solidFill>
                <a:latin typeface="Aptos"/>
              </a:defRPr>
            </a:pPr>
            <a:r>
              <a:rPr noProof="1"/>
              <a:t>ინტერვიუებიდან განმეორებადი პრობლემებისა და ქცევის ნიმუშების ამოღებას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1C2733"/>
                </a:solidFill>
                <a:latin typeface="Aptos"/>
              </a:defRPr>
            </a:pPr>
            <a:r>
              <a:rPr noProof="1"/>
              <a:t>ერთი რისკიანი ჰიპოთეზის შესამოწმებელი ექსპერიმენტის დაგეგმვას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 dirty="0">
                <a:solidFill>
                  <a:srgbClr val="13233A"/>
                </a:solidFill>
                <a:latin typeface="Aptos"/>
              </a:rPr>
              <a:t>Customer Discovery </a:t>
            </a:r>
            <a:r>
              <a:rPr lang="ka-GE" sz="3000" b="1" i="0" dirty="0">
                <a:solidFill>
                  <a:srgbClr val="13233A"/>
                </a:solidFill>
                <a:latin typeface="Aptos"/>
              </a:rPr>
              <a:t>-</a:t>
            </a:r>
            <a:r>
              <a:rPr sz="3000" b="1" i="0" dirty="0">
                <a:solidFill>
                  <a:srgbClr val="13233A"/>
                </a:solidFill>
                <a:latin typeface="Aptos"/>
              </a:rPr>
              <a:t> </a:t>
            </a:r>
            <a:r>
              <a:rPr sz="3000" b="1" i="0" noProof="1">
                <a:solidFill>
                  <a:srgbClr val="13233A"/>
                </a:solidFill>
                <a:latin typeface="Aptos"/>
              </a:rPr>
              <a:t>რას ვეძებთ?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 noProof="1">
                <a:solidFill>
                  <a:srgbClr val="677582"/>
                </a:solidFill>
                <a:latin typeface="Aptos"/>
              </a:rPr>
              <a:t>მომხმარებლის სამყაროს გაგება მანამდე, სანამ გადაწყვეტას მივაწვდით.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474720" cy="2423160"/>
          </a:xfrm>
          <a:prstGeom prst="roundRect">
            <a:avLst/>
          </a:prstGeom>
          <a:solidFill>
            <a:srgbClr val="E4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82296" cy="242316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1226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პრობლემა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8"/>
            <a:ext cx="309067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როდის და რა სიტუაციაში ჩნდება ტკივილი?
რამდენად ხშირი ან ძვირია?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74720" cy="242316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82296" cy="242316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11226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ქცევა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24328"/>
            <a:ext cx="309067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რას აკეთებს ადამიანი დღეს?
რა workaround-ებს იყენებს?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474720" cy="2423160"/>
          </a:xfrm>
          <a:prstGeom prst="roundRect">
            <a:avLst/>
          </a:prstGeom>
          <a:solidFill>
            <a:srgbClr val="F1F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82296" cy="2423160"/>
          </a:xfrm>
          <a:prstGeom prst="rect">
            <a:avLst/>
          </a:prstGeom>
          <a:solidFill>
            <a:srgbClr val="87A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11226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კონტექსტი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624328"/>
            <a:ext cx="309067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რა იწვევს პრობლემას?
რა უშლის ხელს უკეთეს გზას?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2412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13233A"/>
                </a:solidFill>
                <a:latin typeface="Aptos"/>
              </a:rPr>
              <a:t>Discovery ≠ იდეის წარდგენა. Discovery = კითხვების დასმა და მოსმენა.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Founder trap: ვეძებთ მოწონებას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ადამიანები თავაზიანები არიან. თავაზიანობა ბაზრის მტკიცებულება არ არის.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12080" cy="2286000"/>
          </a:xfrm>
          <a:prstGeom prst="roundRect">
            <a:avLst/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82296" cy="2286000"/>
          </a:xfrm>
          <a:prstGeom prst="rect">
            <a:avLst/>
          </a:prstGeom>
          <a:solidFill>
            <a:srgbClr val="EB7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სუსტი სიგნალი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828032" cy="77149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 dirty="0">
                <a:solidFill>
                  <a:srgbClr val="1C2733"/>
                </a:solidFill>
                <a:latin typeface="Aptos"/>
              </a:rPr>
              <a:t>„</a:t>
            </a:r>
            <a:r>
              <a:rPr sz="1400" b="0" i="0" noProof="1">
                <a:solidFill>
                  <a:srgbClr val="1C2733"/>
                </a:solidFill>
                <a:latin typeface="Aptos"/>
              </a:rPr>
              <a:t>კარგი იდეაა!“
„ალბათ გამოვიყენებდი.“
„აუცილებლად გამომიგზავნე, როცა მზად იქნება.“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228600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82296" cy="228600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06654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უფრო ძლიერი სიგნალი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78608"/>
            <a:ext cx="4828032" cy="1536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უკვე ცდილობს პრობლემის მოგვარებას.
ხარჯავს დროს ან ფულს.
ცვლის პროცესს ან მზადაა კონკრეტულ ნაბიჯზე.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14984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 noProof="1">
                <a:solidFill>
                  <a:srgbClr val="13233A"/>
                </a:solidFill>
                <a:latin typeface="Aptos"/>
              </a:rPr>
              <a:t>არ შეაგროვოთ კომპლიმენტები </a:t>
            </a:r>
            <a:r>
              <a:rPr lang="ka-GE" sz="2200" b="1" noProof="1">
                <a:solidFill>
                  <a:srgbClr val="13233A"/>
                </a:solidFill>
                <a:latin typeface="Aptos"/>
              </a:rPr>
              <a:t>- </a:t>
            </a:r>
            <a:r>
              <a:rPr sz="2200" b="1" i="0" noProof="1">
                <a:solidFill>
                  <a:srgbClr val="13233A"/>
                </a:solidFill>
                <a:latin typeface="Aptos"/>
              </a:rPr>
              <a:t>შეაგროვეთ ქცევის მტკიცებულება.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ვარაუდი ≠ ფაქტი ≠ მტკიცებულება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74720" cy="2423160"/>
          </a:xfrm>
          <a:prstGeom prst="roundRect">
            <a:avLst/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82296" cy="2423160"/>
          </a:xfrm>
          <a:prstGeom prst="rect">
            <a:avLst/>
          </a:prstGeom>
          <a:solidFill>
            <a:srgbClr val="EB7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6654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ვარაუდი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309067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„მცირე ბიზნესებს უჭირთ ინვენტარის მართვა.“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74720" cy="2423160"/>
          </a:xfrm>
          <a:prstGeom prst="roundRect">
            <a:avLst/>
          </a:prstGeom>
          <a:solidFill>
            <a:srgbClr val="E4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82296" cy="242316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06654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დაკვირვება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78608"/>
            <a:ext cx="309067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„სამმა მფლობელმა თქვა, რომ მარაგს Excel-ში აღრიცხავს.“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20240"/>
            <a:ext cx="3474720" cy="242316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82296" cy="242316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06654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მტკიცებულება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578608"/>
            <a:ext cx="309067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„5-დან 4 ინტერვიუში გამოვლინდა კვირაში რამდენიმე საათის დანაკარგი და არსებული workaround.“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10058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13233A"/>
                </a:solidFill>
                <a:latin typeface="Aptos"/>
              </a:rPr>
              <a:t>კითხვა: რა მონაცემი შეცვლიდა თქვენს აზრს?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 dirty="0">
                <a:solidFill>
                  <a:srgbClr val="13233A"/>
                </a:solidFill>
                <a:latin typeface="Aptos"/>
              </a:rPr>
              <a:t>Assumption Map </a:t>
            </a:r>
            <a:r>
              <a:rPr lang="ka-GE" sz="3000" b="1" i="0" dirty="0">
                <a:solidFill>
                  <a:srgbClr val="13233A"/>
                </a:solidFill>
                <a:latin typeface="Aptos"/>
              </a:rPr>
              <a:t>-</a:t>
            </a:r>
            <a:r>
              <a:rPr sz="3000" b="1" i="0" dirty="0">
                <a:solidFill>
                  <a:srgbClr val="13233A"/>
                </a:solidFill>
                <a:latin typeface="Aptos"/>
              </a:rPr>
              <a:t> </a:t>
            </a:r>
            <a:r>
              <a:rPr sz="3000" b="1" i="0" noProof="1">
                <a:solidFill>
                  <a:srgbClr val="13233A"/>
                </a:solidFill>
                <a:latin typeface="Aptos"/>
              </a:rPr>
              <a:t>რა უნდა შევამოწმოთ პირველ რიგში?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ყველა ვარაუდი თანაბრად საშიში არ არის.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12080" cy="1371600"/>
          </a:xfrm>
          <a:prstGeom prst="roundRect">
            <a:avLst/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82296" cy="1371600"/>
          </a:xfrm>
          <a:prstGeom prst="rect">
            <a:avLst/>
          </a:prstGeom>
          <a:solidFill>
            <a:srgbClr val="EB7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მაღალი რისკი / მაღალი გაურკვევლობა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82803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ამოწმეთ პირველ რიგში.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1371600"/>
          </a:xfrm>
          <a:prstGeom prst="roundRect">
            <a:avLst/>
          </a:prstGeom>
          <a:solidFill>
            <a:srgbClr val="E4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82296" cy="137160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06654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დაბალი რისკი / მაღალი გაურკვევლობა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78608"/>
            <a:ext cx="482803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შეამოწმეთ მოგვიანებით.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212080" cy="1371600"/>
          </a:xfrm>
          <a:prstGeom prst="roundRect">
            <a:avLst/>
          </a:prstGeom>
          <a:solidFill>
            <a:srgbClr val="F1F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82296" cy="1371600"/>
          </a:xfrm>
          <a:prstGeom prst="rect">
            <a:avLst/>
          </a:prstGeom>
          <a:solidFill>
            <a:srgbClr val="87A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80390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მაღალი რისკი / დაბალი გაურკვევლობა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482803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დაადასტურეთ წყაროსა და მონაცემებით.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212080" cy="137160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82296" cy="137160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80390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დაბალი რისკი / დაბალი გაურკვევლობა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315968"/>
            <a:ext cx="4828032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არ დახარჯოთ ზედმეტი დრო.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აირჩიეთ კონკრეტული მომხმარებელი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თუ მომხმარებელი ყველას ჰგავს, პრაქტიკულად არავის იცნობთ.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9377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B755C"/>
                </a:solidFill>
                <a:latin typeface="Aptos"/>
              </a:rPr>
              <a:t>ზედმეტად ფართო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49377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„სტუდენტები“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9377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CA49C"/>
                </a:solidFill>
                <a:latin typeface="Aptos"/>
              </a:rPr>
              <a:t>უფრო გამოსადეგი სეგმენტი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512064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3233A"/>
                </a:solidFill>
                <a:latin typeface="Aptos"/>
              </a:rPr>
              <a:t>„თბილისში მცხოვრები სტუდენტები, რომლებიც კვირაში მინიმუმ ორჯერ ეძებენ ნახევარ განაკვეთზე სამუშაოს“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493776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82296" cy="315468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2157984"/>
            <a:ext cx="4572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სეგმენტის ჩარჩო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670048"/>
            <a:ext cx="4553712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ვინ არის?
რა სიტუაციაში ჩნდება პრობლემა?
რამდენად ხშირად?
როგორ აგვარებს დღეს?
სად შეგვიძლია ამ ადამიანებთან მისვლა?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17543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AD2BE"/>
                </a:solidFill>
                <a:latin typeface="Arial"/>
              </a:defRPr>
            </a:pPr>
            <a:r>
              <a:rPr dirty="0"/>
              <a:t>CUNICORN  •  WEEK 2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rial"/>
              </a:defRPr>
            </a:pPr>
            <a:r>
              <a:rPr dirty="0"/>
              <a:t>Customer Profile </a:t>
            </a:r>
            <a:r>
              <a:rPr lang="ka-GE" dirty="0"/>
              <a:t>-</a:t>
            </a:r>
            <a:r>
              <a:rPr dirty="0"/>
              <a:t> </a:t>
            </a:r>
            <a:r>
              <a:rPr dirty="0" err="1"/>
              <a:t>ვის</a:t>
            </a:r>
            <a:r>
              <a:rPr dirty="0"/>
              <a:t> </a:t>
            </a:r>
            <a:r>
              <a:rPr dirty="0" err="1"/>
              <a:t>ვიკვლევთ</a:t>
            </a:r>
            <a:r>
              <a:rPr dirty="0"/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94960" cy="4069080"/>
          </a:xfrm>
          <a:prstGeom prst="round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2084831"/>
            <a:ext cx="4754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1">
                <a:solidFill>
                  <a:srgbClr val="2AD2BE"/>
                </a:solidFill>
                <a:latin typeface="Arial"/>
              </a:defRPr>
            </a:pPr>
            <a:r>
              <a:t>პროფილის 5 საყრდენი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578608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C6F25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569464"/>
            <a:ext cx="17830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rial"/>
              </a:defRPr>
            </a:pPr>
            <a:r>
              <a:t>ვინ არის?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578608"/>
            <a:ext cx="25603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AEBCCD"/>
                </a:solidFill>
                <a:latin typeface="Arial"/>
              </a:defRPr>
            </a:pPr>
            <a:r>
              <a:t>როლი, ასაკობრივი/პროფესიული კონტექსტი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91256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C6F25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182112"/>
            <a:ext cx="17830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rial"/>
              </a:defRPr>
            </a:pPr>
            <a:r>
              <a:t>როდის ჩნდება პრობლემა?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191256"/>
            <a:ext cx="25603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AEBCCD"/>
                </a:solidFill>
                <a:latin typeface="Arial"/>
              </a:defRPr>
            </a:pPr>
            <a:r>
              <a:t>სიტუაცია, მომენტი, გარემო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803904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C6F25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794760"/>
            <a:ext cx="17830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rial"/>
              </a:defRPr>
            </a:pPr>
            <a:r>
              <a:t>რამდენად ხშირად?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803904"/>
            <a:ext cx="25603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AEBCCD"/>
                </a:solidFill>
                <a:latin typeface="Arial"/>
              </a:defRPr>
            </a:pPr>
            <a:r>
              <a:t>სიხშირე და სიმძიმე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416552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C6F25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407408"/>
            <a:ext cx="17830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rial"/>
              </a:defRPr>
            </a:pPr>
            <a:r>
              <a:t>რას აკეთებს დღეს?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4416552"/>
            <a:ext cx="25603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AEBCCD"/>
                </a:solidFill>
                <a:latin typeface="Arial"/>
              </a:defRPr>
            </a:pPr>
            <a:r>
              <a:t>არსებული ალტერნატივა / workaround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029200"/>
            <a:ext cx="384048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C6F25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5020056"/>
            <a:ext cx="17830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rial"/>
              </a:defRPr>
            </a:pPr>
            <a:r>
              <a:t>რა შედეგი სჭირდება?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5029200"/>
            <a:ext cx="25603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AEBCCD"/>
                </a:solidFill>
                <a:latin typeface="Arial"/>
              </a:defRPr>
            </a:pPr>
            <a:r>
              <a:t>რას ნიშნავს მისთვის უკეთესი გამოსავალი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874519"/>
            <a:ext cx="5440680" cy="4069080"/>
          </a:xfrm>
          <a:prstGeom prst="roundRect">
            <a:avLst/>
          </a:prstGeom>
          <a:solidFill>
            <a:srgbClr val="1B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2121408"/>
            <a:ext cx="475488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1">
                <a:solidFill>
                  <a:srgbClr val="C6F254"/>
                </a:solidFill>
                <a:latin typeface="Arial"/>
              </a:defRPr>
            </a:pPr>
            <a:r>
              <a:t>შეავსეთ ეს წინადადება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697480"/>
            <a:ext cx="4663440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F5F8FC"/>
                </a:solidFill>
                <a:latin typeface="Arial"/>
              </a:defRPr>
            </a:pPr>
            <a:r>
              <a:t>„ჩვენ ვიკვლევთ [კონკრეტულ ჯგუფს], რომელსაც [კონკრეტულ სიტუაციაში] ექმნება [პრობლემა] და დღეს მის მოსაგვარებლად [არსებულ გზას] იყენებს.“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0528" y="4297680"/>
            <a:ext cx="4617720" cy="1097280"/>
          </a:xfrm>
          <a:prstGeom prst="round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48272" y="4462272"/>
            <a:ext cx="416052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AEBCCD"/>
                </a:solidFill>
                <a:latin typeface="Arial"/>
              </a:defRPr>
            </a:pPr>
            <a:r>
              <a:rPr dirty="0" err="1"/>
              <a:t>სწორი</a:t>
            </a:r>
            <a:r>
              <a:rPr dirty="0"/>
              <a:t> </a:t>
            </a:r>
            <a:r>
              <a:rPr dirty="0" err="1"/>
              <a:t>პროფილი</a:t>
            </a:r>
            <a:r>
              <a:rPr dirty="0"/>
              <a:t> </a:t>
            </a:r>
            <a:r>
              <a:rPr dirty="0" err="1"/>
              <a:t>გვკარნახობს</a:t>
            </a:r>
            <a:r>
              <a:rPr dirty="0"/>
              <a:t>, </a:t>
            </a:r>
            <a:r>
              <a:rPr dirty="0" err="1"/>
              <a:t>ვის</a:t>
            </a:r>
            <a:r>
              <a:rPr dirty="0"/>
              <a:t> </a:t>
            </a:r>
            <a:r>
              <a:rPr dirty="0" err="1"/>
              <a:t>უნდა</a:t>
            </a:r>
            <a:r>
              <a:rPr dirty="0"/>
              <a:t> </a:t>
            </a:r>
            <a:r>
              <a:rPr dirty="0" err="1"/>
              <a:t>დაველაპარაკოთ</a:t>
            </a:r>
            <a:r>
              <a:rPr dirty="0"/>
              <a:t> </a:t>
            </a:r>
            <a:r>
              <a:rPr lang="ka-GE" dirty="0"/>
              <a:t>-</a:t>
            </a:r>
            <a:r>
              <a:rPr dirty="0"/>
              <a:t> </a:t>
            </a:r>
            <a:r>
              <a:rPr dirty="0" err="1"/>
              <a:t>და</a:t>
            </a:r>
            <a:r>
              <a:rPr dirty="0"/>
              <a:t> </a:t>
            </a:r>
            <a:r>
              <a:rPr dirty="0" err="1"/>
              <a:t>არა</a:t>
            </a:r>
            <a:r>
              <a:rPr dirty="0"/>
              <a:t> </a:t>
            </a:r>
            <a:r>
              <a:rPr dirty="0" err="1"/>
              <a:t>იმას</a:t>
            </a:r>
            <a:r>
              <a:rPr dirty="0"/>
              <a:t>, </a:t>
            </a:r>
            <a:r>
              <a:rPr dirty="0" err="1"/>
              <a:t>ვისაც</a:t>
            </a:r>
            <a:r>
              <a:rPr dirty="0"/>
              <a:t> </a:t>
            </a:r>
            <a:r>
              <a:rPr dirty="0" err="1"/>
              <a:t>უბრალოდ</a:t>
            </a:r>
            <a:r>
              <a:rPr dirty="0"/>
              <a:t> </a:t>
            </a:r>
            <a:r>
              <a:rPr dirty="0" err="1"/>
              <a:t>მარტივად</a:t>
            </a:r>
            <a:r>
              <a:rPr dirty="0"/>
              <a:t> </a:t>
            </a:r>
            <a:r>
              <a:rPr dirty="0" err="1"/>
              <a:t>ვუკავშირდებით</a:t>
            </a:r>
            <a:r>
              <a:rPr dirty="0"/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236208"/>
            <a:ext cx="10972800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AEBCCD"/>
                </a:solidFill>
                <a:latin typeface="Arial"/>
              </a:defRPr>
            </a:pPr>
            <a:r>
              <a:rPr noProof="1"/>
              <a:t>შენიშვნა: პროფილი არის შესამოწმებელი ჰიპოთეზა </a:t>
            </a:r>
            <a:r>
              <a:rPr lang="ka-GE" noProof="1"/>
              <a:t>-</a:t>
            </a:r>
            <a:r>
              <a:rPr noProof="1"/>
              <a:t> ინტერვიუების შემდეგ შეიძლება შეიცვალოს.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ვინ უნდა იყოს ინტერვიუში?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ესაუბრე იმ ადამიანებს, ვისაც პრობლემა რეალურად გამოუცდია.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2279598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C2733"/>
                </a:solidFill>
                <a:latin typeface="Aptos"/>
              </a:defRPr>
            </a:pPr>
            <a:r>
              <a:rPr lang="ka-GE" noProof="1"/>
              <a:t>მომხმარებელი უნდა შეესაბამებოდეს კონკრეტულ სეგმენტს</a:t>
            </a:r>
          </a:p>
          <a:p>
            <a:pPr>
              <a:spcAft>
                <a:spcPts val="1300"/>
              </a:spcAft>
              <a:defRPr sz="2000">
                <a:solidFill>
                  <a:srgbClr val="1C2733"/>
                </a:solidFill>
                <a:latin typeface="Aptos"/>
              </a:defRPr>
            </a:pPr>
            <a:r>
              <a:rPr lang="ka-GE" noProof="1"/>
              <a:t>უპირატესობა მიანიჭეთ ბოლო პერიოდში პრობლემის მქონე ადამიანებს</a:t>
            </a:r>
          </a:p>
          <a:p>
            <a:pPr>
              <a:spcAft>
                <a:spcPts val="1300"/>
              </a:spcAft>
              <a:defRPr sz="2000">
                <a:solidFill>
                  <a:srgbClr val="1C2733"/>
                </a:solidFill>
                <a:latin typeface="Aptos"/>
              </a:defRPr>
            </a:pPr>
            <a:r>
              <a:rPr lang="ka-GE" noProof="1"/>
              <a:t>ნუ შეარჩევთ მხოლოდ მეგობრებს, რომლებიც იდეას შეაქებენ</a:t>
            </a:r>
          </a:p>
          <a:p>
            <a:pPr>
              <a:spcAft>
                <a:spcPts val="1300"/>
              </a:spcAft>
              <a:defRPr sz="2000">
                <a:solidFill>
                  <a:srgbClr val="1C2733"/>
                </a:solidFill>
                <a:latin typeface="Aptos"/>
              </a:defRPr>
            </a:pPr>
            <a:r>
              <a:rPr lang="ka-GE" noProof="1"/>
              <a:t>დაიწყეთ 5–8 შესაბამისი ინტერვიუთი - შემდეგ გადაწყვიტეთ, რა აკლია მონაცემებს</a:t>
            </a:r>
          </a:p>
          <a:p>
            <a:pPr>
              <a:spcAft>
                <a:spcPts val="1300"/>
              </a:spcAft>
              <a:defRPr sz="2000">
                <a:solidFill>
                  <a:srgbClr val="1C2733"/>
                </a:solidFill>
                <a:latin typeface="Aptos"/>
              </a:defRPr>
            </a:pPr>
            <a:r>
              <a:rPr lang="ka-GE" noProof="1"/>
              <a:t>ჩაინიშნეთ, ვის ესაუბრეთ და რა კონტექსტში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17543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AD2BE"/>
                </a:solidFill>
                <a:latin typeface="Arial"/>
              </a:defRPr>
            </a:pPr>
            <a:r>
              <a:rPr dirty="0"/>
              <a:t>CUNICORN  •  WEEK 2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rial"/>
              </a:defRPr>
            </a:pPr>
            <a:r>
              <a:t>Customer Persona — მომხმარებელს „სახე“ მიეცით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AEBCCD"/>
                </a:solidFill>
                <a:latin typeface="Arial"/>
              </a:defRPr>
            </a:pPr>
            <a:r>
              <a:t>პერსონა არის კვლევაზე დაფუძნებული, კონკრეტული მომხმარებლის ტიპის მოკლე პორტრეტი — არა გამოგონილი ბიოგრაფია.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40680" cy="4251960"/>
          </a:xfrm>
          <a:prstGeom prst="round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2148840"/>
            <a:ext cx="1417320" cy="1417320"/>
          </a:xfrm>
          <a:prstGeom prst="ellipse">
            <a:avLst/>
          </a:prstGeom>
          <a:solidFill>
            <a:srgbClr val="1F4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6365" y="2985058"/>
            <a:ext cx="907084" cy="708660"/>
          </a:xfrm>
          <a:prstGeom prst="ellipse">
            <a:avLst/>
          </a:prstGeom>
          <a:solidFill>
            <a:srgbClr val="2A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436522" y="2843326"/>
            <a:ext cx="226771" cy="255117"/>
          </a:xfrm>
          <a:prstGeom prst="rect">
            <a:avLst/>
          </a:prstGeom>
          <a:solidFill>
            <a:srgbClr val="E0A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8097" y="2375611"/>
            <a:ext cx="623620" cy="680313"/>
          </a:xfrm>
          <a:prstGeom prst="ellipse">
            <a:avLst/>
          </a:prstGeom>
          <a:solidFill>
            <a:srgbClr val="43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80617" y="2460650"/>
            <a:ext cx="538581" cy="609447"/>
          </a:xfrm>
          <a:prstGeom prst="ellipse">
            <a:avLst/>
          </a:prstGeom>
          <a:solidFill>
            <a:srgbClr val="E0A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/>
          <p:cNvSpPr/>
          <p:nvPr/>
        </p:nvSpPr>
        <p:spPr>
          <a:xfrm>
            <a:off x="1238097" y="2361438"/>
            <a:ext cx="623620" cy="510235"/>
          </a:xfrm>
          <a:prstGeom prst="arc">
            <a:avLst/>
          </a:prstGeom>
          <a:noFill/>
          <a:ln w="76200">
            <a:solidFill>
              <a:srgbClr val="43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415262" y="2715768"/>
            <a:ext cx="49606" cy="49606"/>
          </a:xfrm>
          <a:prstGeom prst="ellipse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620774" y="2715768"/>
            <a:ext cx="49606" cy="49606"/>
          </a:xfrm>
          <a:prstGeom prst="ellipse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rc 13"/>
          <p:cNvSpPr/>
          <p:nvPr/>
        </p:nvSpPr>
        <p:spPr>
          <a:xfrm>
            <a:off x="1450695" y="2814980"/>
            <a:ext cx="212598" cy="113385"/>
          </a:xfrm>
          <a:prstGeom prst="arc">
            <a:avLst/>
          </a:prstGeom>
          <a:noFill/>
          <a:ln w="19050">
            <a:solidFill>
              <a:srgbClr val="0B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2212848"/>
            <a:ext cx="30175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000" b="1">
                <a:solidFill>
                  <a:srgbClr val="F5F8FC"/>
                </a:solidFill>
                <a:latin typeface="Arial"/>
              </a:defRPr>
            </a:pPr>
            <a:r>
              <a:t>ნინო, 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587752"/>
            <a:ext cx="29718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2AD2BE"/>
                </a:solidFill>
                <a:latin typeface="Arial"/>
              </a:defRPr>
            </a:pPr>
            <a:r>
              <a:t>პირობითი მაგალითი • მცირე ონლაინ-მეწარმე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767328"/>
            <a:ext cx="475488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C6F254"/>
                </a:solidFill>
                <a:latin typeface="Arial"/>
              </a:defRPr>
            </a:pPr>
            <a:r>
              <a:t>მისი კონტექსტი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087368"/>
            <a:ext cx="466344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rial"/>
              </a:defRPr>
            </a:pPr>
            <a:r>
              <a:t>შეკვეთებს რამდენიმე არხიდან იღებს და პროცესების კოორდინაციას თავად აკეთებს.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773168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C6F254"/>
                </a:solidFill>
                <a:latin typeface="Arial"/>
              </a:defRPr>
            </a:pPr>
            <a:r>
              <a:t>რა უნდა გავარკვიოთ?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084064"/>
            <a:ext cx="466344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AEBCCD"/>
                </a:solidFill>
                <a:latin typeface="Arial"/>
              </a:defRPr>
            </a:pPr>
            <a:r>
              <a:t>ბოლოს როდის დაიკარგა შეკვეთის ინფორმაცია? როგორ აგვარებს ამას დღეს და რა უჯდება?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828800"/>
            <a:ext cx="5440680" cy="4251960"/>
          </a:xfrm>
          <a:prstGeom prst="roundRect">
            <a:avLst/>
          </a:prstGeom>
          <a:solidFill>
            <a:srgbClr val="1B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92240" y="2148840"/>
            <a:ext cx="1417320" cy="1417320"/>
          </a:xfrm>
          <a:prstGeom prst="ellipse">
            <a:avLst/>
          </a:prstGeom>
          <a:solidFill>
            <a:srgbClr val="3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747357" y="2985058"/>
            <a:ext cx="907084" cy="708660"/>
          </a:xfrm>
          <a:prstGeom prst="ellipse">
            <a:avLst/>
          </a:prstGeom>
          <a:solidFill>
            <a:srgbClr val="B2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87514" y="2843326"/>
            <a:ext cx="226771" cy="255117"/>
          </a:xfrm>
          <a:prstGeom prst="rect">
            <a:avLst/>
          </a:prstGeom>
          <a:solidFill>
            <a:srgbClr val="BE8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89089" y="2375611"/>
            <a:ext cx="623620" cy="680313"/>
          </a:xfrm>
          <a:prstGeom prst="ellipse">
            <a:avLst/>
          </a:prstGeom>
          <a:solidFill>
            <a:srgbClr val="25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931609" y="2460650"/>
            <a:ext cx="538581" cy="609447"/>
          </a:xfrm>
          <a:prstGeom prst="ellipse">
            <a:avLst/>
          </a:prstGeom>
          <a:solidFill>
            <a:srgbClr val="BE8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rc 26"/>
          <p:cNvSpPr/>
          <p:nvPr/>
        </p:nvSpPr>
        <p:spPr>
          <a:xfrm>
            <a:off x="6889089" y="2361438"/>
            <a:ext cx="623620" cy="510235"/>
          </a:xfrm>
          <a:prstGeom prst="arc">
            <a:avLst/>
          </a:prstGeom>
          <a:noFill/>
          <a:ln w="76200">
            <a:solidFill>
              <a:srgbClr val="251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066254" y="2715768"/>
            <a:ext cx="49606" cy="49606"/>
          </a:xfrm>
          <a:prstGeom prst="ellipse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271766" y="2715768"/>
            <a:ext cx="49606" cy="49606"/>
          </a:xfrm>
          <a:prstGeom prst="ellipse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Arc 29"/>
          <p:cNvSpPr/>
          <p:nvPr/>
        </p:nvSpPr>
        <p:spPr>
          <a:xfrm>
            <a:off x="7101687" y="2814980"/>
            <a:ext cx="212598" cy="113385"/>
          </a:xfrm>
          <a:prstGeom prst="arc">
            <a:avLst/>
          </a:prstGeom>
          <a:noFill/>
          <a:ln w="19050">
            <a:solidFill>
              <a:srgbClr val="0B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9872" y="2212848"/>
            <a:ext cx="3063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000" b="1">
                <a:solidFill>
                  <a:srgbClr val="F5F8FC"/>
                </a:solidFill>
                <a:latin typeface="Arial"/>
              </a:defRPr>
            </a:pPr>
            <a:r>
              <a:t>გიორგი, 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2587752"/>
            <a:ext cx="29718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B296FF"/>
                </a:solidFill>
                <a:latin typeface="Arial"/>
              </a:defRPr>
            </a:pPr>
            <a:r>
              <a:t>პირობითი მაგალითი • მცირე მაღაზიის მფლობელი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3767328"/>
            <a:ext cx="475488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C6F254"/>
                </a:solidFill>
                <a:latin typeface="Arial"/>
              </a:defRPr>
            </a:pPr>
            <a:r>
              <a:t>მისი კონტექსტი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4087368"/>
            <a:ext cx="466344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rial"/>
              </a:defRPr>
            </a:pPr>
            <a:r>
              <a:t>მარაგს ხელით ან ცხრილით აღრიცხავს და დროის დიდ ნაწილს ოპერაციებზე ხარჯავს.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8816" y="4773168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C6F254"/>
                </a:solidFill>
                <a:latin typeface="Arial"/>
              </a:defRPr>
            </a:pPr>
            <a:r>
              <a:t>რა უნდა გავარკვიოთ?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5084064"/>
            <a:ext cx="466344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AEBCCD"/>
                </a:solidFill>
                <a:latin typeface="Arial"/>
              </a:defRPr>
            </a:pPr>
            <a:r>
              <a:t>რამდენად ხშირად აქვს მარაგის შეუსაბამობა? რა გამოსავალი სცადა და რატომ არ იმუშავა?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კარგი ინტერვიუს სტრუქტურა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20–30 წუთი • საუბარი მომხმარებლის გამოცდილებაზე და არა თქვენს pitch-ზე.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520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03120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CA49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75688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კონტექსტი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78024"/>
            <a:ext cx="26060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C2733"/>
                </a:solidFill>
                <a:latin typeface="Aptos"/>
              </a:rPr>
              <a:t>ვინ არის ადამიანი და რა პროცესშია?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965960"/>
            <a:ext cx="3520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2103120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CA49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075688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ბოლო შემთხვევა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478024"/>
            <a:ext cx="26060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C2733"/>
                </a:solidFill>
                <a:latin typeface="Aptos"/>
              </a:rPr>
              <a:t>მომიყევით ბოლოს როდის მოხდა…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965960"/>
            <a:ext cx="3520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2103120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CA49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075688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ქცევა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478024"/>
            <a:ext cx="26060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C2733"/>
                </a:solidFill>
                <a:latin typeface="Aptos"/>
              </a:rPr>
              <a:t>რა გააკეთეთ? რა ინსტრუმენტი გამოიყენეთ?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3520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703320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CA49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75887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შედეგი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078224"/>
            <a:ext cx="26060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C2733"/>
                </a:solidFill>
                <a:latin typeface="Aptos"/>
              </a:rPr>
              <a:t>რა იყო რთული, ძვირი ან შემაწუხებელი?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566160"/>
            <a:ext cx="3520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90872" y="3703320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CA49C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675887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ალტერნატივა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078224"/>
            <a:ext cx="26060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C2733"/>
                </a:solidFill>
                <a:latin typeface="Aptos"/>
              </a:rPr>
              <a:t>რა სცადეთ უკვე? რატომ არ იმუშავა?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566160"/>
            <a:ext cx="3520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85632" y="3703320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CA49C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675887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შეჯამება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078224"/>
            <a:ext cx="26060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C2733"/>
                </a:solidFill>
                <a:latin typeface="Aptos"/>
              </a:rPr>
              <a:t>რა გამომრჩა? ვის უნდა ვესაუბრო კიდევ?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a-GE" sz="3000" b="1" i="0" noProof="1">
                <a:solidFill>
                  <a:srgbClr val="13233A"/>
                </a:solidFill>
                <a:latin typeface="Aptos"/>
              </a:rPr>
              <a:t>კითხვები, რომლებიც მიგვიყვანს სიმართლესთან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3291840"/>
          </a:xfrm>
          <a:prstGeom prst="roundRect">
            <a:avLst/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82296" cy="3291840"/>
          </a:xfrm>
          <a:prstGeom prst="rect">
            <a:avLst/>
          </a:prstGeom>
          <a:solidFill>
            <a:srgbClr val="EB7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მოერიდეთ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4828032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„მოგეწონებოდათ ასეთი აპი?“
„გამოიყენებდით ჩვენს პროდუქტს?“
„არ ფიქრობთ, რომ ეს დიდი პრობლემაა?“
„რამდენს გადაიხდიდით?“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329184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82296" cy="329184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97510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ჰკითხეთ ასე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487168"/>
            <a:ext cx="4828032" cy="2542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„მომიყევით ბოლოს როდის შეგექმნათ ეს პრობლემა.“
„როგორ მოაგვარეთ?“
„რა იყო ყველაზე რთული?“
„რა დაგიჯდათ დროის ან ფულის მხრივ?“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14984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 noProof="1">
                <a:solidFill>
                  <a:srgbClr val="13233A"/>
                </a:solidFill>
                <a:latin typeface="Aptos"/>
              </a:rPr>
              <a:t>ჯერ წარსული ქცევა. შემდეგ </a:t>
            </a:r>
            <a:r>
              <a:rPr lang="ka-GE" sz="1700" b="1" noProof="1">
                <a:solidFill>
                  <a:srgbClr val="13233A"/>
                </a:solidFill>
                <a:latin typeface="Aptos"/>
              </a:rPr>
              <a:t>- </a:t>
            </a:r>
            <a:r>
              <a:rPr sz="1700" b="1" i="0" noProof="1">
                <a:solidFill>
                  <a:srgbClr val="13233A"/>
                </a:solidFill>
                <a:latin typeface="Aptos"/>
              </a:rPr>
              <a:t>საჭიროების შემთხვევაში, მომავალი განზრახვა.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 dirty="0">
                <a:solidFill>
                  <a:srgbClr val="13233A"/>
                </a:solidFill>
                <a:latin typeface="Aptos"/>
              </a:rPr>
              <a:t>Follow-up </a:t>
            </a:r>
            <a:r>
              <a:rPr sz="3000" b="1" i="0" dirty="0" err="1">
                <a:solidFill>
                  <a:srgbClr val="13233A"/>
                </a:solidFill>
                <a:latin typeface="Aptos"/>
              </a:rPr>
              <a:t>კითხვები</a:t>
            </a:r>
            <a:endParaRPr sz="3000" b="1" i="0" dirty="0">
              <a:solidFill>
                <a:srgbClr val="13233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C2733"/>
                </a:solidFill>
                <a:latin typeface="Aptos"/>
              </a:defRPr>
            </a:pPr>
            <a:r>
              <a:t>„შეგიძლიათ კონკრეტული მაგალითი მომიყვანოთ?“</a:t>
            </a:r>
          </a:p>
          <a:p>
            <a:pPr>
              <a:spcAft>
                <a:spcPts val="1300"/>
              </a:spcAft>
              <a:defRPr sz="2200">
                <a:solidFill>
                  <a:srgbClr val="1C2733"/>
                </a:solidFill>
                <a:latin typeface="Aptos"/>
              </a:defRPr>
            </a:pPr>
            <a:r>
              <a:t>„რა მოხდა შემდეგ?“</a:t>
            </a:r>
          </a:p>
          <a:p>
            <a:pPr>
              <a:spcAft>
                <a:spcPts val="1300"/>
              </a:spcAft>
              <a:defRPr sz="2200">
                <a:solidFill>
                  <a:srgbClr val="1C2733"/>
                </a:solidFill>
                <a:latin typeface="Aptos"/>
              </a:defRPr>
            </a:pPr>
            <a:r>
              <a:t>„რამდენად ხშირად ხდება ეს?“</a:t>
            </a:r>
          </a:p>
          <a:p>
            <a:pPr>
              <a:spcAft>
                <a:spcPts val="1300"/>
              </a:spcAft>
              <a:defRPr sz="2200">
                <a:solidFill>
                  <a:srgbClr val="1C2733"/>
                </a:solidFill>
                <a:latin typeface="Aptos"/>
              </a:defRPr>
            </a:pPr>
            <a:r>
              <a:t>„ბოლო ჯერზე რამდენი დრო ან ფული დახარჯეთ?“</a:t>
            </a:r>
          </a:p>
          <a:p>
            <a:pPr>
              <a:spcAft>
                <a:spcPts val="1300"/>
              </a:spcAft>
              <a:defRPr sz="2200">
                <a:solidFill>
                  <a:srgbClr val="1C2733"/>
                </a:solidFill>
                <a:latin typeface="Aptos"/>
              </a:defRPr>
            </a:pPr>
            <a:r>
              <a:t>„რატომ აირჩიეთ ეს გზა და არა სხვა?“</a:t>
            </a:r>
          </a:p>
          <a:p>
            <a:pPr>
              <a:spcAft>
                <a:spcPts val="1300"/>
              </a:spcAft>
              <a:defRPr sz="2200">
                <a:solidFill>
                  <a:srgbClr val="1C2733"/>
                </a:solidFill>
                <a:latin typeface="Aptos"/>
              </a:defRPr>
            </a:pPr>
            <a:r>
              <a:t>„რა სცადეთ მანამდე?“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 noProof="1">
                <a:solidFill>
                  <a:srgbClr val="2CA49C"/>
                </a:solidFill>
                <a:latin typeface="Aptos"/>
              </a:rPr>
              <a:t>მოითხოვეთ მაგალითი </a:t>
            </a:r>
            <a:r>
              <a:rPr lang="ka-GE" sz="1800" b="1" i="0" noProof="1">
                <a:solidFill>
                  <a:srgbClr val="2CA49C"/>
                </a:solidFill>
                <a:latin typeface="Aptos"/>
              </a:rPr>
              <a:t>-</a:t>
            </a:r>
            <a:r>
              <a:rPr sz="1800" b="1" i="0" noProof="1">
                <a:solidFill>
                  <a:srgbClr val="2CA49C"/>
                </a:solidFill>
                <a:latin typeface="Aptos"/>
              </a:rPr>
              <a:t> ნუ </a:t>
            </a:r>
            <a:r>
              <a:rPr lang="ka-GE" sz="1800" b="1" i="0" noProof="1">
                <a:solidFill>
                  <a:srgbClr val="2CA49C"/>
                </a:solidFill>
                <a:latin typeface="Aptos"/>
              </a:rPr>
              <a:t>უკარნახებთ</a:t>
            </a:r>
            <a:r>
              <a:rPr sz="1800" b="1" i="0" noProof="1">
                <a:solidFill>
                  <a:srgbClr val="2CA49C"/>
                </a:solidFill>
                <a:latin typeface="Aptos"/>
              </a:rPr>
              <a:t> პასუხს.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მოსმენის წესები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ინტერვიუ არ არის დებატი და არც პროდუქტის დემონსტრაცია.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474720" cy="2468880"/>
          </a:xfrm>
          <a:prstGeom prst="roundRect">
            <a:avLst/>
          </a:prstGeom>
          <a:solidFill>
            <a:srgbClr val="E4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82296" cy="246888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1226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მოუსმინეთ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8"/>
            <a:ext cx="309067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საუბრის დიდი ნაწილი მომხმარებელს დაუთმეთ.
პაუზა ყოველთვის უხერხული არ არის.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74720" cy="246888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82296" cy="246888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11226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დააზუსტეთ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24328"/>
            <a:ext cx="309067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„რატომ?“ ზოგჯერ ზედმეტად მკვეთრია.
სცადეთ: „რა განაპირობებდა ამას?“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474720" cy="2468880"/>
          </a:xfrm>
          <a:prstGeom prst="roundRect">
            <a:avLst/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82296" cy="2468880"/>
          </a:xfrm>
          <a:prstGeom prst="rect">
            <a:avLst/>
          </a:prstGeom>
          <a:solidFill>
            <a:srgbClr val="EB7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11226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არ დაიცვათ იდეა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624328"/>
            <a:ext cx="309067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კრიტიკა საჩუქარია.
არ ახსნათ, რატომ უნდა მოეწონოთ პროდუქტი.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მინი-დემონსტრაცია: რომელი კითხვაა უკეთესი?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5029200" cy="2377440"/>
          </a:xfrm>
          <a:prstGeom prst="roundRect">
            <a:avLst/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82296" cy="2377440"/>
          </a:xfrm>
          <a:prstGeom prst="rect">
            <a:avLst/>
          </a:prstGeom>
          <a:solidFill>
            <a:srgbClr val="EB7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112264"/>
            <a:ext cx="46634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24328"/>
            <a:ext cx="4645152" cy="1627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„თუ აპი ავტომატურად დაგიგეგმავდათ ბიუჯეტს, გამოიყენებდით?“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5029200" cy="237744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965960"/>
            <a:ext cx="82296" cy="237744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46634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624328"/>
            <a:ext cx="4645152" cy="1627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„ბოლოს როდის გაგიჭირდათ პირადი ხარჯების კონტროლი? როგორ მართეთ ეს სიტუაცია?“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100584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3233A"/>
                </a:solidFill>
                <a:latin typeface="Aptos"/>
              </a:rPr>
              <a:t>რა განსხვავებაა? რომელი პასუხი მოგვცემს ქცევით მტკიცებულებას?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ინტერვიუების შემდეგ: ნუ დაითვლით მხოლოდ პასუხებს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ეძებეთ განმეორებადი ქცევა, კონკრეტული ტკივილი და წინააღმდეგობრივი სიგნალები.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474720" cy="2514600"/>
          </a:xfrm>
          <a:prstGeom prst="roundRect">
            <a:avLst/>
          </a:prstGeom>
          <a:solidFill>
            <a:srgbClr val="E4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82296" cy="251460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1226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8"/>
            <a:ext cx="3090672" cy="1764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რომელი პრობლემა მეორდება?
რა სიტუაციებში?
რომელი სეგმენტისთვის?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74720" cy="251460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82296" cy="251460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11226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SURPRISES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24328"/>
            <a:ext cx="3090672" cy="1764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რა იყო მოულოდნელი?
რომელი ვარაუდი არ გამართლდა?
რა ვერ გავიგეთ?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474720" cy="2514600"/>
          </a:xfrm>
          <a:prstGeom prst="roundRect">
            <a:avLst/>
          </a:prstGeom>
          <a:solidFill>
            <a:srgbClr val="F1F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82296" cy="2514600"/>
          </a:xfrm>
          <a:prstGeom prst="rect">
            <a:avLst/>
          </a:prstGeom>
          <a:solidFill>
            <a:srgbClr val="87A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11226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624328"/>
            <a:ext cx="3090672" cy="1764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რა ქცევამ ან ფაქტმა დაგვარწმუნა?
რა გვაკლია?
რა უნდა გადავამოწმოთ?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058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13233A"/>
                </a:solidFill>
                <a:latin typeface="Aptos"/>
              </a:rPr>
              <a:t>ნუ აიძულებთ მონაცემებს დაადასტურონ თქვენი საყვარელი იდეა.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 dirty="0">
                <a:solidFill>
                  <a:srgbClr val="13233A"/>
                </a:solidFill>
                <a:latin typeface="Aptos"/>
              </a:rPr>
              <a:t>Evidence ladder </a:t>
            </a:r>
            <a:r>
              <a:rPr lang="ka-GE" sz="3000" b="1" i="0" dirty="0">
                <a:solidFill>
                  <a:srgbClr val="13233A"/>
                </a:solidFill>
                <a:latin typeface="Aptos"/>
              </a:rPr>
              <a:t>-</a:t>
            </a:r>
            <a:r>
              <a:rPr sz="3000" b="1" i="0" dirty="0">
                <a:solidFill>
                  <a:srgbClr val="13233A"/>
                </a:solidFill>
                <a:latin typeface="Aptos"/>
              </a:rPr>
              <a:t> </a:t>
            </a:r>
            <a:r>
              <a:rPr sz="3000" b="1" i="0" noProof="1">
                <a:solidFill>
                  <a:srgbClr val="13233A"/>
                </a:solidFill>
                <a:latin typeface="Aptos"/>
              </a:rPr>
              <a:t>სიგნალები ერთნაირი არ არის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241280" cy="658368"/>
          </a:xfrm>
          <a:prstGeom prst="roundRect">
            <a:avLst/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EB755C"/>
                </a:solidFill>
                <a:latin typeface="Aptos"/>
              </a:rPr>
              <a:t>სუსტი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20240"/>
            <a:ext cx="7863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3233A"/>
                </a:solidFill>
                <a:latin typeface="Aptos"/>
              </a:rPr>
              <a:t>მეგობარმა თქვა, რომ იდეა მოსწონს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70048"/>
            <a:ext cx="10241280" cy="658368"/>
          </a:xfrm>
          <a:prstGeom prst="roundRect">
            <a:avLst/>
          </a:prstGeom>
          <a:solidFill>
            <a:srgbClr val="E4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761488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75B91"/>
                </a:solidFill>
                <a:latin typeface="Aptos"/>
              </a:rPr>
              <a:t>საშუალო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61488"/>
            <a:ext cx="7863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3233A"/>
                </a:solidFill>
                <a:latin typeface="Aptos"/>
              </a:rPr>
              <a:t>მომხმარებელი აღწერს განმეორებად პრობლემას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11296"/>
            <a:ext cx="10241280" cy="658368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602736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CA49C"/>
                </a:solidFill>
                <a:latin typeface="Aptos"/>
              </a:rPr>
              <a:t>ძლიერი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02736"/>
            <a:ext cx="7863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3233A"/>
                </a:solidFill>
                <a:latin typeface="Aptos"/>
              </a:rPr>
              <a:t>უკვე ხარჯავს დროს/ფულს ალტერნატივაზე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52544"/>
            <a:ext cx="10241280" cy="658368"/>
          </a:xfrm>
          <a:prstGeom prst="roundRect">
            <a:avLst/>
          </a:prstGeom>
          <a:solidFill>
            <a:srgbClr val="F1F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43983"/>
            <a:ext cx="1828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87A027"/>
                </a:solidFill>
                <a:latin typeface="Aptos"/>
              </a:rPr>
              <a:t>უფრო ძლიერი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443983"/>
            <a:ext cx="78638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3233A"/>
                </a:solidFill>
                <a:latin typeface="Aptos"/>
              </a:rPr>
              <a:t>თანხმდება კონკრეტულ შემდეგ ნაბიჯზე ან ტესტზე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სამუშაო ფურცელი 1 — Interview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გუნდმა შეავსოს ინტერვიუს დაწყებამდე.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2423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მომხმარებლის სეგმენტი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01952"/>
            <a:ext cx="7406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ვის ვესაუბრებით?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2423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საკვლევი პრობლემა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51760"/>
            <a:ext cx="7406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რის გაგება გვინდა?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28415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2423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ძირითადი ჰიპოთეზა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401568"/>
            <a:ext cx="7406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რისი გვჯერა, მაგრამ ჯერ არ ვიცით?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78224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51376"/>
            <a:ext cx="2423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5 ღია კითხვა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151376"/>
            <a:ext cx="7406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კითხვები წარსულ გამოცდილებასა და ქცევაზე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28031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901183"/>
            <a:ext cx="2423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არ ვკითხოთ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901183"/>
            <a:ext cx="7406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რა კითხვები მიგვიყვანს სასურველ პასუხამდე?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4518" y="768095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 noProof="1">
                <a:solidFill>
                  <a:srgbClr val="13233A"/>
                </a:solidFill>
                <a:latin typeface="Aptos"/>
              </a:rPr>
              <a:t>სამუშაო ფურცელი </a:t>
            </a:r>
            <a:r>
              <a:rPr sz="3000" b="1" i="0" dirty="0">
                <a:solidFill>
                  <a:srgbClr val="13233A"/>
                </a:solidFill>
                <a:latin typeface="Aptos"/>
              </a:rPr>
              <a:t>2 — Interview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ფაქტები ჩაიწერეთ მომხმარებლის სიტყვებით; ინტერპრეტაცია ცალკე.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47672"/>
            <a:ext cx="2377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ციტატა / ფაქტი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47672"/>
            <a:ext cx="7406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რა თქვა ან რა ქნა ადამიანმა?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24327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79"/>
            <a:ext cx="2377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პრობლემის კონტექსტი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97479"/>
            <a:ext cx="7406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როდის და რა სიტუაციაში მოხდა?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74135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447287"/>
            <a:ext cx="2377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სიხშირე / გავლენა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47287"/>
            <a:ext cx="7406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რამდენად ხშირად? რა დაუჯდა?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23944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97096"/>
            <a:ext cx="2377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არსებული ალტერნატივა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197096"/>
            <a:ext cx="7406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როგორ აგვარებს დღეს?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73752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946904"/>
            <a:ext cx="2377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მიგნება / ახალი კითხვა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946904"/>
            <a:ext cx="7406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რა ვისწავლეთ და რა უნდა გადავამოწმოთ?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 dirty="0">
                <a:solidFill>
                  <a:srgbClr val="13233A"/>
                </a:solidFill>
                <a:latin typeface="Aptos"/>
              </a:rPr>
              <a:t>Customer Validation </a:t>
            </a:r>
            <a:r>
              <a:rPr lang="ka-GE" sz="3000" b="1" i="0" dirty="0">
                <a:solidFill>
                  <a:srgbClr val="13233A"/>
                </a:solidFill>
                <a:latin typeface="Aptos"/>
              </a:rPr>
              <a:t>-</a:t>
            </a:r>
            <a:r>
              <a:rPr sz="3000" b="1" i="0" dirty="0">
                <a:solidFill>
                  <a:srgbClr val="13233A"/>
                </a:solidFill>
                <a:latin typeface="Aptos"/>
              </a:rPr>
              <a:t> </a:t>
            </a:r>
            <a:r>
              <a:rPr sz="3000" b="1" i="0" noProof="1">
                <a:solidFill>
                  <a:srgbClr val="13233A"/>
                </a:solidFill>
                <a:latin typeface="Aptos"/>
              </a:rPr>
              <a:t>რა უნდა დავამტკიცოთ?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ვალიდაცია არ ნიშნავს, რომ ყველას მოეწონა იდეა.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2495042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C2733"/>
                </a:solidFill>
                <a:latin typeface="Aptos"/>
              </a:defRPr>
            </a:pPr>
            <a:r>
              <a:rPr lang="ka-GE" noProof="1"/>
              <a:t>პრობლემა არსებობს კონკრეტულ სეგმენტში</a:t>
            </a:r>
          </a:p>
          <a:p>
            <a:pPr>
              <a:spcAft>
                <a:spcPts val="1300"/>
              </a:spcAft>
              <a:defRPr sz="1900">
                <a:solidFill>
                  <a:srgbClr val="1C2733"/>
                </a:solidFill>
                <a:latin typeface="Aptos"/>
              </a:defRPr>
            </a:pPr>
            <a:r>
              <a:rPr lang="ka-GE" noProof="1"/>
              <a:t>პრობლემა საკმარისად მნიშვნელოვანია, რომ ადამიანი რაღაცას ცვლიდეს</a:t>
            </a:r>
          </a:p>
          <a:p>
            <a:pPr>
              <a:spcAft>
                <a:spcPts val="1300"/>
              </a:spcAft>
              <a:defRPr sz="1900">
                <a:solidFill>
                  <a:srgbClr val="1C2733"/>
                </a:solidFill>
                <a:latin typeface="Aptos"/>
              </a:defRPr>
            </a:pPr>
            <a:r>
              <a:rPr lang="ka-GE" noProof="1"/>
              <a:t>არსებული ალტერნატივები სრულად ვერ აგვარებს საჭიროებას</a:t>
            </a:r>
          </a:p>
          <a:p>
            <a:pPr>
              <a:spcAft>
                <a:spcPts val="1300"/>
              </a:spcAft>
              <a:defRPr sz="1900">
                <a:solidFill>
                  <a:srgbClr val="1C2733"/>
                </a:solidFill>
                <a:latin typeface="Aptos"/>
              </a:defRPr>
            </a:pPr>
            <a:r>
              <a:rPr lang="ka-GE" noProof="1"/>
              <a:t>თქვენი გადაწყვეტა რეალურად აუმჯობესებს შედეგს</a:t>
            </a:r>
          </a:p>
          <a:p>
            <a:pPr>
              <a:spcAft>
                <a:spcPts val="1300"/>
              </a:spcAft>
              <a:defRPr sz="1900">
                <a:solidFill>
                  <a:srgbClr val="1C2733"/>
                </a:solidFill>
                <a:latin typeface="Aptos"/>
              </a:defRPr>
            </a:pPr>
            <a:r>
              <a:rPr lang="ka-GE" noProof="1"/>
              <a:t>მომხმარებელი მზად არის შემდეგ ნაბიჯზე: ტესტი, პილოტი, დროის დათმობა ან გადახდის განხილვა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ADC1D4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ADC1D4"/>
                </a:solidFill>
                <a:latin typeface="Aptos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 i="0" dirty="0">
                <a:solidFill>
                  <a:srgbClr val="FFFFFF"/>
                </a:solidFill>
                <a:latin typeface="Aptos"/>
              </a:rPr>
              <a:t>10-წუთიანი </a:t>
            </a:r>
            <a:r>
              <a:rPr sz="3200" b="1" i="0" dirty="0" err="1">
                <a:solidFill>
                  <a:srgbClr val="FFFFFF"/>
                </a:solidFill>
                <a:latin typeface="Aptos"/>
              </a:rPr>
              <a:t>შესვენება</a:t>
            </a:r>
            <a:endParaRPr sz="32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2412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 i="0" dirty="0" err="1">
                <a:solidFill>
                  <a:srgbClr val="CAD8E4"/>
                </a:solidFill>
                <a:latin typeface="Aptos"/>
              </a:rPr>
              <a:t>დაბრუნებისას</a:t>
            </a:r>
            <a:r>
              <a:rPr sz="1900" b="0" i="0" dirty="0">
                <a:solidFill>
                  <a:srgbClr val="CAD8E4"/>
                </a:solidFill>
                <a:latin typeface="Aptos"/>
              </a:rPr>
              <a:t> </a:t>
            </a:r>
            <a:r>
              <a:rPr sz="1900" b="0" i="0" dirty="0" err="1">
                <a:solidFill>
                  <a:srgbClr val="CAD8E4"/>
                </a:solidFill>
                <a:latin typeface="Aptos"/>
              </a:rPr>
              <a:t>ინტერვიუს</a:t>
            </a:r>
            <a:r>
              <a:rPr sz="1900" b="0" i="0" dirty="0">
                <a:solidFill>
                  <a:srgbClr val="CAD8E4"/>
                </a:solidFill>
                <a:latin typeface="Aptos"/>
              </a:rPr>
              <a:t> </a:t>
            </a:r>
            <a:r>
              <a:rPr sz="1900" b="0" i="0" dirty="0" err="1">
                <a:solidFill>
                  <a:srgbClr val="CAD8E4"/>
                </a:solidFill>
                <a:latin typeface="Aptos"/>
              </a:rPr>
              <a:t>როლურ</a:t>
            </a:r>
            <a:r>
              <a:rPr sz="1900" b="0" i="0" dirty="0">
                <a:solidFill>
                  <a:srgbClr val="CAD8E4"/>
                </a:solidFill>
                <a:latin typeface="Aptos"/>
              </a:rPr>
              <a:t> </a:t>
            </a:r>
            <a:r>
              <a:rPr sz="1900" b="0" i="0" dirty="0" err="1">
                <a:solidFill>
                  <a:srgbClr val="CAD8E4"/>
                </a:solidFill>
                <a:latin typeface="Aptos"/>
              </a:rPr>
              <a:t>სავარჯიშოს</a:t>
            </a:r>
            <a:r>
              <a:rPr sz="1900" b="0" i="0" dirty="0">
                <a:solidFill>
                  <a:srgbClr val="CAD8E4"/>
                </a:solidFill>
                <a:latin typeface="Aptos"/>
              </a:rPr>
              <a:t> </a:t>
            </a:r>
            <a:r>
              <a:rPr sz="1900" b="0" i="0" dirty="0" err="1">
                <a:solidFill>
                  <a:srgbClr val="CAD8E4"/>
                </a:solidFill>
                <a:latin typeface="Aptos"/>
              </a:rPr>
              <a:t>ვიწყებთ</a:t>
            </a:r>
            <a:r>
              <a:rPr sz="1900" b="0" i="0" dirty="0">
                <a:solidFill>
                  <a:srgbClr val="CAD8E4"/>
                </a:solidFill>
                <a:latin typeface="Aptos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3886200"/>
            <a:ext cx="2286000" cy="82296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DC1D4"/>
                </a:solidFill>
                <a:latin typeface="Aptos"/>
              </a:rPr>
              <a:t>CUnicorn Pre-Acceleration  •  Customer Discovery &amp; Validation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 noProof="1">
                <a:solidFill>
                  <a:srgbClr val="13233A"/>
                </a:solidFill>
                <a:latin typeface="Aptos"/>
              </a:rPr>
              <a:t> როლური ინტერვიუ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გუნდში გაინაწილეთ სამი როლი: ინტერვიუერი, მომხმარებელი, დამკვირვებელი.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2423160"/>
          </a:xfrm>
          <a:prstGeom prst="roundRect">
            <a:avLst/>
          </a:prstGeom>
          <a:solidFill>
            <a:srgbClr val="E4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82296" cy="242316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ინტერვიუერი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9067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დასვით ღია კითხვები.
არ ახსენოთ გადაწყვეტა პირველივე წუთებში.
დასვით follow-up კითხვები.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74720" cy="242316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82296" cy="242316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7510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მომხმარებელი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87168"/>
            <a:ext cx="309067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ითამაშეთ რეალისტური მომხმარებელი.
მოიყვანეთ კონკრეტული ბოლო შემთხვევა.
არ შეეცადოთ იდეის დახმარებას.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2423160"/>
          </a:xfrm>
          <a:prstGeom prst="roundRect">
            <a:avLst/>
          </a:prstGeom>
          <a:solidFill>
            <a:srgbClr val="F1F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82296" cy="2423160"/>
          </a:xfrm>
          <a:prstGeom prst="rect">
            <a:avLst/>
          </a:prstGeom>
          <a:solidFill>
            <a:srgbClr val="87A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7510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დამკვირვებელი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87168"/>
            <a:ext cx="3090672" cy="1673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მონიშნეთ leading questions.
ჩაიწერეთ ციტატები და ქცევა.
დააკვირდით, რას არ ეკითხებიან.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058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10 წთ ინტერვიუ • 5 წთ უკუკავშირი • როლების შეცვლა და მოკლე მეორე რაუნდი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დაგეგმეთ მცირე Validation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კარგი ექსპერიმენტი პასუხობს ერთ მნიშვნელოვან კითხვას.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2148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ჰიპოთეზა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01952"/>
            <a:ext cx="749807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გვჯერა, რომ [სეგმენტს] აქვს [პრობლემა]…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2148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ტესტი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51760"/>
            <a:ext cx="749807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რა გავაკეთებთ მინიმალური რესურსით?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28415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2148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მტკიცებულება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401568"/>
            <a:ext cx="749807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რა ქცევას ან შედეგს დავაკვირდებით?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78224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51376"/>
            <a:ext cx="2148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ზღვარი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151376"/>
            <a:ext cx="749807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რა შედეგი ჩაითვლება საკმარის სიგნალად?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28031"/>
            <a:ext cx="105156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901183"/>
            <a:ext cx="2148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3233A"/>
                </a:solidFill>
                <a:latin typeface="Aptos"/>
              </a:rPr>
              <a:t>გადაწყვეტილება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901183"/>
            <a:ext cx="749807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77582"/>
                </a:solidFill>
                <a:latin typeface="Aptos"/>
              </a:rPr>
              <a:t>გავაგრძელოთ, შევცვალოთ თუ შევწყვიტოთ?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რა შეიძლება იყოს ექსპერიმენტი?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შეარჩიეთ ტესტი იმის მიხედვით, რა არის ყველაზე რისკიანი ვარაუდი.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2651760"/>
          </a:xfrm>
          <a:prstGeom prst="roundRect">
            <a:avLst/>
          </a:prstGeom>
          <a:solidFill>
            <a:srgbClr val="E4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82296" cy="265176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პრობლემის ტესტი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90672" cy="1901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5–8 ინტერვიუ
ბოლო შემთხვევის აღწერა
პრობლემის სიხშირე და workaround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74720" cy="265176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82296" cy="265176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7510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ინტერესის ტესტი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87168"/>
            <a:ext cx="3090672" cy="1901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Landing page ან მოკლე შეთავაზება
მომხმარებლის რეალური მოქმედება
არა მხოლოდ მოწონებები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2651760"/>
          </a:xfrm>
          <a:prstGeom prst="roundRect">
            <a:avLst/>
          </a:prstGeom>
          <a:solidFill>
            <a:srgbClr val="F1F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82296" cy="2651760"/>
          </a:xfrm>
          <a:prstGeom prst="rect">
            <a:avLst/>
          </a:prstGeom>
          <a:solidFill>
            <a:srgbClr val="87A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75104"/>
            <a:ext cx="3108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გადაწყვეტის ტესტი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87168"/>
            <a:ext cx="3090672" cy="1901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Clickable prototype
Concierge/manual pilot
მცირე რეალური გამოყენება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05840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 noProof="1">
                <a:solidFill>
                  <a:srgbClr val="13233A"/>
                </a:solidFill>
                <a:latin typeface="Aptos"/>
              </a:rPr>
              <a:t>MVP არ არის აუცილებლად აპი </a:t>
            </a:r>
            <a:r>
              <a:rPr lang="ka-GE" sz="1800" b="1" i="0" noProof="1">
                <a:solidFill>
                  <a:srgbClr val="13233A"/>
                </a:solidFill>
                <a:latin typeface="Aptos"/>
              </a:rPr>
              <a:t>-</a:t>
            </a:r>
            <a:r>
              <a:rPr sz="1800" b="1" i="0" noProof="1">
                <a:solidFill>
                  <a:srgbClr val="13233A"/>
                </a:solidFill>
                <a:latin typeface="Aptos"/>
              </a:rPr>
              <a:t> MVP არის ყველაზე პატარა ტესტი, რომელიც რაღაცას გვასწავლის.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8483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3233A"/>
                </a:solidFill>
                <a:latin typeface="Aptos"/>
              </a:rPr>
              <a:t>წინასწარ განსაზღვრეთ წარმატების კრიტერიუმი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თუ ტესტის შემდეგ გადაწყვეტთ, რა ითვლება წარმატებად, შეიძლება საკუთარ თავს მოატყუოთ.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12080" cy="2468880"/>
          </a:xfrm>
          <a:prstGeom prst="roundRect">
            <a:avLst/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82296" cy="2468880"/>
          </a:xfrm>
          <a:prstGeom prst="rect">
            <a:avLst/>
          </a:prstGeom>
          <a:solidFill>
            <a:srgbClr val="EB7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სუსტი კრიტერიუმი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482803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„ვნახოთ, მოეწონებათ თუ არა.“
„რამდენიმე ადამიანმა თქვა, რომ საინტერესოა.“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212080" cy="246888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82296" cy="246888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06654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კონკრეტული კრიტერიუმი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78608"/>
            <a:ext cx="4828032" cy="1719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„8-დან 5 ადამიანი აღწერს პრობლემას, რომელიც ბოლო 30 დღეში განმეორდა.“
„3 მომხმარებელი თანხმდება პილოტზე.“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1005840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 noProof="1">
                <a:solidFill>
                  <a:srgbClr val="13233A"/>
                </a:solidFill>
                <a:latin typeface="Aptos"/>
              </a:rPr>
              <a:t>რიცხვი თავისთავად სიმართლე არ არის </a:t>
            </a:r>
            <a:r>
              <a:rPr lang="ka-GE" sz="1700" b="1" i="0" noProof="1">
                <a:solidFill>
                  <a:srgbClr val="13233A"/>
                </a:solidFill>
                <a:latin typeface="Aptos"/>
              </a:rPr>
              <a:t>-</a:t>
            </a:r>
            <a:r>
              <a:rPr sz="1700" b="1" i="0" noProof="1">
                <a:solidFill>
                  <a:srgbClr val="13233A"/>
                </a:solidFill>
                <a:latin typeface="Aptos"/>
              </a:rPr>
              <a:t> მნიშვნელოვანია სეგმენტი, კონტექსტი და ქცევა.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 dirty="0">
                <a:solidFill>
                  <a:srgbClr val="13233A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3233A"/>
                </a:solidFill>
                <a:latin typeface="Aptos"/>
              </a:rPr>
              <a:t>გუნდური</a:t>
            </a:r>
            <a:r>
              <a:rPr sz="3000" b="1" i="0" dirty="0">
                <a:solidFill>
                  <a:srgbClr val="13233A"/>
                </a:solidFill>
                <a:latin typeface="Aptos"/>
              </a:rPr>
              <a:t> 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იმუშავეთ თქვენს სტარტაპზე და შეავსეთ Validation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0424160" cy="612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1938528"/>
            <a:ext cx="384048" cy="384048"/>
          </a:xfrm>
          <a:prstGeom prst="round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3840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38528"/>
            <a:ext cx="9235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3233A"/>
                </a:solidFill>
                <a:latin typeface="Aptos"/>
              </a:rPr>
              <a:t>აირჩიეთ ერთი ყველაზე რისკიანი ჰიპოთეზა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87752"/>
            <a:ext cx="10424160" cy="612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" y="2697480"/>
            <a:ext cx="384048" cy="384048"/>
          </a:xfrm>
          <a:prstGeom prst="round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706624"/>
            <a:ext cx="3840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97480"/>
            <a:ext cx="9235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3233A"/>
                </a:solidFill>
                <a:latin typeface="Aptos"/>
              </a:rPr>
              <a:t>განსაზღვრეთ ვის უნდა ესაუბროთ ან ვისზე ჩაატაროთ ტესტი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46704"/>
            <a:ext cx="10424160" cy="612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" y="3456432"/>
            <a:ext cx="384048" cy="384048"/>
          </a:xfrm>
          <a:prstGeom prst="round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465576"/>
            <a:ext cx="3840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456432"/>
            <a:ext cx="9235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3233A"/>
                </a:solidFill>
                <a:latin typeface="Aptos"/>
              </a:rPr>
              <a:t>დაწერეთ 5 ინტერვიუს კითხვა ან ექსპერიმენტის ნაბიჯები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05656"/>
            <a:ext cx="10424160" cy="612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5840" y="4215384"/>
            <a:ext cx="384048" cy="384048"/>
          </a:xfrm>
          <a:prstGeom prst="round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224528"/>
            <a:ext cx="3840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15384"/>
            <a:ext cx="9235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3233A"/>
                </a:solidFill>
                <a:latin typeface="Aptos"/>
              </a:rPr>
              <a:t>განსაზღვრეთ, რა ჩაითვლება მტკიცებულებად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864608"/>
            <a:ext cx="10424160" cy="612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05840" y="4974336"/>
            <a:ext cx="384048" cy="384048"/>
          </a:xfrm>
          <a:prstGeom prst="round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983480"/>
            <a:ext cx="38404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74336"/>
            <a:ext cx="9235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3233A"/>
                </a:solidFill>
                <a:latin typeface="Aptos"/>
              </a:rPr>
              <a:t>ჩამოწერეთ შემდეგი 7 დღის კონკრეტული მოქმედება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 noProof="1">
                <a:solidFill>
                  <a:srgbClr val="13233A"/>
                </a:solidFill>
                <a:latin typeface="Aptos"/>
              </a:rPr>
              <a:t>თითოეული გუნდი </a:t>
            </a:r>
            <a:r>
              <a:rPr lang="ka-GE" sz="3000" b="1" noProof="1">
                <a:solidFill>
                  <a:srgbClr val="13233A"/>
                </a:solidFill>
                <a:latin typeface="Aptos"/>
              </a:rPr>
              <a:t>-</a:t>
            </a:r>
            <a:r>
              <a:rPr sz="3000" b="1" i="0" noProof="1">
                <a:solidFill>
                  <a:srgbClr val="13233A"/>
                </a:solidFill>
                <a:latin typeface="Aptos"/>
              </a:rPr>
              <a:t> 60 წამი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107899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677582"/>
                </a:solidFill>
                <a:latin typeface="Aptos"/>
              </a:rPr>
              <a:t>არ გვჭირდება pitch. გვჭირდება მკაფიო გეგმა, როგორ გავიგებთ სიმართლეს.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241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13233A"/>
                </a:solidFill>
                <a:latin typeface="Aptos"/>
              </a:rPr>
              <a:t>WHO?  ვის ვიკვლევთ?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241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13233A"/>
                </a:solidFill>
                <a:latin typeface="Aptos"/>
              </a:rPr>
              <a:t>WHAT?  რომელი ჰიპოთეზა უნდა შევამოწმოთ?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241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13233A"/>
                </a:solidFill>
                <a:latin typeface="Aptos"/>
              </a:rPr>
              <a:t>HOW?  რა ინტერვიუ ან ექსპერიმენტი ჩავატაროთ?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241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13233A"/>
                </a:solidFill>
                <a:latin typeface="Aptos"/>
              </a:rPr>
              <a:t>EVIDENCE?  რა შედეგი შეცვლის ჩვენს გადაწყვეტილებას?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5257800"/>
            <a:ext cx="3200400" cy="73152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677582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677582"/>
                </a:solidFill>
                <a:latin typeface="Aptos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a-GE" sz="3000" b="1" i="0" noProof="1">
                <a:solidFill>
                  <a:srgbClr val="13233A"/>
                </a:solidFill>
                <a:latin typeface="Aptos"/>
              </a:rPr>
              <a:t>საშინაო დავალება - მტკიცებულება, არა ვარაუდი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77582"/>
                </a:solidFill>
                <a:latin typeface="Aptos"/>
              </a:rPr>
              <a:t>CUnicorn Pre-Acceleration  •  Customer Discovery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2926080"/>
          </a:xfrm>
          <a:prstGeom prst="roundRect">
            <a:avLst/>
          </a:prstGeom>
          <a:solidFill>
            <a:srgbClr val="E4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82296" cy="292608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თითოეულმა გუნდმა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4828032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ჩაატაროს მინიმუმ 5 შესაბამისი მომხმარებლის ინტერვიუ.
ჩაიწეროს 3 მნიშვნელოვანი ციტატა ან ქცევითი ფაქტი.
გამოყოს 3 ძირითადი მიგნება.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2926080"/>
          </a:xfrm>
          <a:prstGeom prst="roundRect">
            <a:avLst/>
          </a:prstGeom>
          <a:solidFill>
            <a:srgbClr val="E0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82296" cy="2926080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975104"/>
            <a:ext cx="48463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3233A"/>
                </a:solidFill>
                <a:latin typeface="Aptos"/>
              </a:rPr>
              <a:t>მოიტანეთ შემდეგ სესიაზე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487168"/>
            <a:ext cx="4828032" cy="21762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C2733"/>
                </a:solidFill>
                <a:latin typeface="Aptos"/>
              </a:rPr>
              <a:t>განახლებული customer segment.
რა დადასტურდა და რა არ დადასტურდა.
ერთი ახალი ჰიპოთეზა ან validation experiment.
შემდეგი ნაბიჯი.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0584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3233A"/>
                </a:solidFill>
                <a:latin typeface="Aptos"/>
              </a:rPr>
              <a:t>არ გაყიდოთ იდეა. არ მოითხოვოთ შეფასება. გაიგეთ რეალური გამოცდილება.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7955279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ADC1D4"/>
                </a:solidFill>
                <a:latin typeface="Aptos"/>
              </a:rPr>
              <a:t>CUNICORN  •  WEEK 2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01168"/>
            <a:ext cx="594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ADC1D4"/>
                </a:solidFill>
                <a:latin typeface="Aptos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30352"/>
            <a:ext cx="11155680" cy="16459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The goal is not to be right.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7899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CEE669"/>
                </a:solidFill>
                <a:latin typeface="Aptos"/>
              </a:rPr>
              <a:t>The goal is to learn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03320"/>
            <a:ext cx="9875520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 noProof="1">
                <a:solidFill>
                  <a:srgbClr val="CAD8E4"/>
                </a:solidFill>
                <a:latin typeface="Aptos"/>
              </a:rPr>
              <a:t>ძლიერი დამფუძნებელი არ იცავს ვარაუდს </a:t>
            </a:r>
            <a:r>
              <a:rPr lang="ka-GE" sz="2200" b="1" i="0" noProof="1">
                <a:solidFill>
                  <a:srgbClr val="CAD8E4"/>
                </a:solidFill>
                <a:latin typeface="Aptos"/>
              </a:rPr>
              <a:t>-</a:t>
            </a:r>
            <a:r>
              <a:rPr sz="2200" b="1" i="0" noProof="1">
                <a:solidFill>
                  <a:srgbClr val="CAD8E4"/>
                </a:solidFill>
                <a:latin typeface="Aptos"/>
              </a:rPr>
              <a:t> ის ამოწმებს მას</a:t>
            </a:r>
            <a:r>
              <a:rPr sz="2200" b="1" i="0" dirty="0">
                <a:solidFill>
                  <a:srgbClr val="CAD8E4"/>
                </a:solidFill>
                <a:latin typeface="Aptos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4800600"/>
            <a:ext cx="2377440" cy="73152"/>
          </a:xfrm>
          <a:prstGeom prst="rect">
            <a:avLst/>
          </a:prstGeom>
          <a:solidFill>
            <a:srgbClr val="2CA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CUSTOMER → EVIDENCE → EXPERIMENT →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9672"/>
            <a:ext cx="8961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DC1D4"/>
                </a:solidFill>
                <a:latin typeface="Aptos"/>
              </a:rPr>
              <a:t>CUnicorn Pre-Acceleration  •  Customer Discovery &amp;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2056</Words>
  <Application>Microsoft Macintosh PowerPoint</Application>
  <PresentationFormat>Widescreen</PresentationFormat>
  <Paragraphs>351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irakli svanidze</cp:lastModifiedBy>
  <cp:revision>5</cp:revision>
  <dcterms:created xsi:type="dcterms:W3CDTF">2013-01-27T09:14:16Z</dcterms:created>
  <dcterms:modified xsi:type="dcterms:W3CDTF">2026-10-24T09:28:32Z</dcterms:modified>
  <cp:category/>
</cp:coreProperties>
</file>